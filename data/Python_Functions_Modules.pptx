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 dirty="0">
                <a:latin typeface="Times New Roman"/>
              </a:rPr>
              <a:t>Python Functions and Modules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91497" y="3446206"/>
            <a:ext cx="6400800" cy="1752600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sz="2200" b="1" u="sng" dirty="0">
                <a:solidFill>
                  <a:schemeClr val="tx1"/>
                </a:solidFill>
                <a:latin typeface="Times New Roman"/>
              </a:rPr>
              <a:t>Presented By:</a:t>
            </a:r>
            <a:r>
              <a:rPr lang="en-IN" sz="2200" b="1" u="sng" dirty="0">
                <a:solidFill>
                  <a:schemeClr val="tx1"/>
                </a:solidFill>
                <a:latin typeface="Times New Roman"/>
              </a:rPr>
              <a:t>-</a:t>
            </a:r>
            <a:endParaRPr sz="2200" b="1" u="sng" dirty="0">
              <a:solidFill>
                <a:schemeClr val="tx1"/>
              </a:solidFill>
              <a:latin typeface="Times New Roman"/>
            </a:endParaRPr>
          </a:p>
          <a:p>
            <a:pPr algn="l"/>
            <a:r>
              <a:rPr sz="1600" b="1" dirty="0">
                <a:solidFill>
                  <a:schemeClr val="tx2">
                    <a:lumMod val="75000"/>
                  </a:schemeClr>
                </a:solidFill>
                <a:latin typeface="Times New Roman"/>
              </a:rPr>
              <a:t>1</a:t>
            </a:r>
            <a:r>
              <a:rPr lang="en-IN" sz="1600" b="1" dirty="0">
                <a:solidFill>
                  <a:schemeClr val="tx2">
                    <a:lumMod val="75000"/>
                  </a:schemeClr>
                </a:solidFill>
                <a:latin typeface="Times New Roman"/>
              </a:rPr>
              <a:t>. Yashwith</a:t>
            </a:r>
            <a:endParaRPr sz="1600" b="1" dirty="0">
              <a:solidFill>
                <a:schemeClr val="tx2">
                  <a:lumMod val="75000"/>
                </a:schemeClr>
              </a:solidFill>
              <a:latin typeface="Times New Roman"/>
            </a:endParaRPr>
          </a:p>
          <a:p>
            <a:pPr algn="l"/>
            <a:r>
              <a:rPr sz="1600" b="1" dirty="0">
                <a:solidFill>
                  <a:schemeClr val="tx2">
                    <a:lumMod val="75000"/>
                  </a:schemeClr>
                </a:solidFill>
                <a:latin typeface="Times New Roman"/>
              </a:rPr>
              <a:t>2. </a:t>
            </a:r>
            <a:r>
              <a:rPr lang="en-IN" sz="1600" b="1" dirty="0">
                <a:solidFill>
                  <a:schemeClr val="tx2">
                    <a:lumMod val="75000"/>
                  </a:schemeClr>
                </a:solidFill>
                <a:latin typeface="Times New Roman"/>
              </a:rPr>
              <a:t>Kumar</a:t>
            </a:r>
          </a:p>
          <a:p>
            <a:pPr algn="l"/>
            <a:r>
              <a:rPr sz="1600" b="1" dirty="0">
                <a:solidFill>
                  <a:schemeClr val="tx2">
                    <a:lumMod val="75000"/>
                  </a:schemeClr>
                </a:solidFill>
                <a:latin typeface="Times New Roman"/>
              </a:rPr>
              <a:t>3. </a:t>
            </a:r>
            <a:r>
              <a:rPr lang="en-IN" sz="1600" b="1" dirty="0">
                <a:solidFill>
                  <a:schemeClr val="tx2">
                    <a:lumMod val="75000"/>
                  </a:schemeClr>
                </a:solidFill>
                <a:latin typeface="Times New Roman"/>
              </a:rPr>
              <a:t>Vandana J</a:t>
            </a:r>
            <a:endParaRPr sz="1600" b="1" dirty="0">
              <a:solidFill>
                <a:schemeClr val="tx2">
                  <a:lumMod val="75000"/>
                </a:schemeClr>
              </a:solidFill>
              <a:latin typeface="Times New Roman"/>
            </a:endParaRPr>
          </a:p>
          <a:p>
            <a:pPr algn="l"/>
            <a:r>
              <a:rPr sz="1600" b="1" dirty="0">
                <a:solidFill>
                  <a:schemeClr val="tx2">
                    <a:lumMod val="75000"/>
                  </a:schemeClr>
                </a:solidFill>
                <a:latin typeface="Times New Roman"/>
              </a:rPr>
              <a:t>4. </a:t>
            </a:r>
            <a:r>
              <a:rPr lang="en-IN" sz="1600" b="1" dirty="0">
                <a:solidFill>
                  <a:schemeClr val="tx2">
                    <a:lumMod val="75000"/>
                  </a:schemeClr>
                </a:solidFill>
                <a:latin typeface="Times New Roman"/>
              </a:rPr>
              <a:t>Kishan B P</a:t>
            </a:r>
            <a:endParaRPr sz="1600" b="1" dirty="0">
              <a:solidFill>
                <a:schemeClr val="tx2">
                  <a:lumMod val="75000"/>
                </a:schemeClr>
              </a:solidFill>
              <a:latin typeface="Times New Roman"/>
            </a:endParaRPr>
          </a:p>
          <a:p>
            <a:pPr algn="l"/>
            <a:r>
              <a:rPr sz="1600" b="1" dirty="0">
                <a:solidFill>
                  <a:schemeClr val="tx2">
                    <a:lumMod val="75000"/>
                  </a:schemeClr>
                </a:solidFill>
                <a:latin typeface="Times New Roman"/>
              </a:rPr>
              <a:t>5. </a:t>
            </a:r>
            <a:r>
              <a:rPr lang="en-IN" sz="1600" b="1" dirty="0">
                <a:solidFill>
                  <a:schemeClr val="tx2">
                    <a:lumMod val="75000"/>
                  </a:schemeClr>
                </a:solidFill>
                <a:latin typeface="Times New Roman"/>
              </a:rPr>
              <a:t>Varshini D</a:t>
            </a:r>
            <a:endParaRPr sz="1600" b="1" dirty="0">
              <a:solidFill>
                <a:schemeClr val="tx2">
                  <a:lumMod val="75000"/>
                </a:schemeClr>
              </a:solidFill>
              <a:latin typeface="Times New Roman"/>
            </a:endParaRPr>
          </a:p>
          <a:p>
            <a:pPr algn="l"/>
            <a:r>
              <a:rPr sz="1600" b="1" dirty="0">
                <a:solidFill>
                  <a:schemeClr val="tx2">
                    <a:lumMod val="75000"/>
                  </a:schemeClr>
                </a:solidFill>
                <a:latin typeface="Times New Roman"/>
              </a:rPr>
              <a:t>6.</a:t>
            </a:r>
            <a:r>
              <a:rPr lang="en-IN" sz="1600" b="1" dirty="0">
                <a:solidFill>
                  <a:schemeClr val="tx2">
                    <a:lumMod val="75000"/>
                  </a:schemeClr>
                </a:solidFill>
                <a:latin typeface="Times New Roman"/>
              </a:rPr>
              <a:t> Adithya G</a:t>
            </a:r>
          </a:p>
          <a:p>
            <a:pPr algn="l"/>
            <a:r>
              <a:rPr lang="en-IN" sz="1600" b="1" dirty="0">
                <a:solidFill>
                  <a:schemeClr val="tx2">
                    <a:lumMod val="75000"/>
                  </a:schemeClr>
                </a:solidFill>
                <a:latin typeface="Times New Roman"/>
              </a:rPr>
              <a:t>7. Jithesh</a:t>
            </a:r>
            <a:endParaRPr sz="1600" b="1" dirty="0">
              <a:solidFill>
                <a:schemeClr val="tx2">
                  <a:lumMod val="75000"/>
                </a:schemeClr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latin typeface="Times New Roman"/>
              </a:rPr>
              <a:t>Introduction to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 b="1" dirty="0">
                <a:latin typeface="Times New Roman"/>
              </a:rPr>
              <a:t>Definition</a:t>
            </a:r>
            <a:r>
              <a:rPr sz="2000" b="0" dirty="0">
                <a:latin typeface="Times New Roman"/>
              </a:rPr>
              <a:t>: A named block of code designed to perform a specific task.</a:t>
            </a:r>
          </a:p>
          <a:p>
            <a:r>
              <a:rPr sz="2000" b="1" dirty="0">
                <a:latin typeface="Times New Roman"/>
              </a:rPr>
              <a:t>Purpose</a:t>
            </a:r>
            <a:r>
              <a:rPr sz="2000" b="0" dirty="0">
                <a:latin typeface="Times New Roman"/>
              </a:rPr>
              <a:t>: Define once, reuse everywhere.</a:t>
            </a:r>
          </a:p>
          <a:p>
            <a:r>
              <a:rPr sz="2000" b="1" dirty="0">
                <a:latin typeface="Times New Roman"/>
              </a:rPr>
              <a:t>Why use them? </a:t>
            </a:r>
            <a:r>
              <a:rPr sz="2000" b="0" dirty="0">
                <a:latin typeface="Times New Roman"/>
              </a:rPr>
              <a:t>Prevents bugs, improves readability, and streamlines debugging.</a:t>
            </a:r>
          </a:p>
          <a:p>
            <a:r>
              <a:rPr sz="2000" b="1" dirty="0">
                <a:latin typeface="Times New Roman"/>
              </a:rPr>
              <a:t>ML Use Cases:</a:t>
            </a:r>
            <a:r>
              <a:rPr sz="2000" b="0" dirty="0">
                <a:latin typeface="Times New Roman"/>
              </a:rPr>
              <a:t> Data cleaning, feature engineering, and model training.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 dirty="0">
                <a:latin typeface="Times New Roman"/>
              </a:rPr>
              <a:t>Arguments and Return Values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 b="1" dirty="0">
                <a:latin typeface="Times New Roman"/>
              </a:rPr>
              <a:t>Arguments</a:t>
            </a:r>
            <a:r>
              <a:rPr sz="2000" b="0" dirty="0">
                <a:latin typeface="Times New Roman"/>
              </a:rPr>
              <a:t>: Pass data into the function to make it flexible.</a:t>
            </a:r>
          </a:p>
          <a:p>
            <a:r>
              <a:rPr sz="2000" b="1" dirty="0">
                <a:latin typeface="Times New Roman"/>
              </a:rPr>
              <a:t>Return</a:t>
            </a:r>
            <a:r>
              <a:rPr sz="2000" b="0" dirty="0">
                <a:latin typeface="Times New Roman"/>
              </a:rPr>
              <a:t> </a:t>
            </a:r>
            <a:r>
              <a:rPr sz="2000" b="1" dirty="0">
                <a:latin typeface="Times New Roman"/>
              </a:rPr>
              <a:t>Values</a:t>
            </a:r>
            <a:r>
              <a:rPr sz="2000" b="0" dirty="0">
                <a:latin typeface="Times New Roman"/>
              </a:rPr>
              <a:t>: Send data back to the main workflow.</a:t>
            </a:r>
          </a:p>
          <a:p>
            <a:r>
              <a:rPr sz="2000" b="1" dirty="0">
                <a:latin typeface="Times New Roman"/>
              </a:rPr>
              <a:t>Importance</a:t>
            </a:r>
            <a:r>
              <a:rPr sz="2000" b="0" dirty="0">
                <a:latin typeface="Times New Roman"/>
              </a:rPr>
              <a:t>: Critical for ML pipelines where results must be stored.</a:t>
            </a:r>
          </a:p>
          <a:p>
            <a:pPr marL="0" indent="0">
              <a:buNone/>
            </a:pPr>
            <a:br>
              <a:rPr dirty="0"/>
            </a:br>
            <a:r>
              <a:rPr sz="2000" b="1" u="sng" dirty="0">
                <a:latin typeface="Times New Roman"/>
              </a:rPr>
              <a:t>Code</a:t>
            </a:r>
            <a:r>
              <a:rPr sz="2000" b="0" u="sng" dirty="0">
                <a:latin typeface="Times New Roman"/>
              </a:rPr>
              <a:t> </a:t>
            </a:r>
            <a:r>
              <a:rPr sz="2000" b="1" u="sng" dirty="0">
                <a:latin typeface="Times New Roman"/>
              </a:rPr>
              <a:t>Example</a:t>
            </a:r>
            <a:r>
              <a:rPr sz="2000" b="0" u="sng" dirty="0">
                <a:latin typeface="Times New Roman"/>
              </a:rPr>
              <a:t>:</a:t>
            </a:r>
          </a:p>
          <a:p>
            <a:pPr>
              <a:defRPr sz="1400">
                <a:latin typeface="Courier New"/>
              </a:defRPr>
            </a:pPr>
            <a:r>
              <a:rPr sz="2000" b="0" dirty="0">
                <a:solidFill>
                  <a:srgbClr val="7030A0"/>
                </a:solidFill>
                <a:latin typeface="Consolas" panose="020B0609020204030204" pitchFamily="49" charset="0"/>
              </a:rPr>
              <a:t>def</a:t>
            </a:r>
            <a:r>
              <a:rPr sz="2000" b="0" dirty="0">
                <a:latin typeface="Consolas" panose="020B0609020204030204" pitchFamily="49" charset="0"/>
              </a:rPr>
              <a:t> </a:t>
            </a:r>
            <a:r>
              <a:rPr sz="2000" b="0" dirty="0" err="1">
                <a:solidFill>
                  <a:srgbClr val="00B0F0"/>
                </a:solidFill>
                <a:latin typeface="Consolas" panose="020B0609020204030204" pitchFamily="49" charset="0"/>
              </a:rPr>
              <a:t>add_numbers</a:t>
            </a:r>
            <a:r>
              <a:rPr sz="2000" b="0" dirty="0">
                <a:latin typeface="Consolas" panose="020B0609020204030204" pitchFamily="49" charset="0"/>
              </a:rPr>
              <a:t>(a, b):</a:t>
            </a:r>
            <a:br>
              <a:rPr dirty="0">
                <a:latin typeface="Consolas" panose="020B0609020204030204" pitchFamily="49" charset="0"/>
              </a:rPr>
            </a:br>
            <a:r>
              <a:rPr sz="2000" b="0" dirty="0">
                <a:latin typeface="Consolas" panose="020B0609020204030204" pitchFamily="49" charset="0"/>
              </a:rPr>
              <a:t>    </a:t>
            </a:r>
            <a:r>
              <a:rPr sz="2000" b="0" dirty="0">
                <a:solidFill>
                  <a:srgbClr val="7030A0"/>
                </a:solidFill>
                <a:latin typeface="Consolas" panose="020B0609020204030204" pitchFamily="49" charset="0"/>
              </a:rPr>
              <a:t>return</a:t>
            </a:r>
            <a:r>
              <a:rPr sz="2000" b="0" dirty="0">
                <a:latin typeface="Consolas" panose="020B0609020204030204" pitchFamily="49" charset="0"/>
              </a:rPr>
              <a:t> a + b</a:t>
            </a:r>
            <a:br>
              <a:rPr dirty="0">
                <a:latin typeface="Consolas" panose="020B0609020204030204" pitchFamily="49" charset="0"/>
              </a:rPr>
            </a:br>
            <a:br>
              <a:rPr dirty="0">
                <a:latin typeface="Consolas" panose="020B0609020204030204" pitchFamily="49" charset="0"/>
              </a:rPr>
            </a:br>
            <a:r>
              <a:rPr sz="2000" b="0" dirty="0">
                <a:latin typeface="Consolas" panose="020B0609020204030204" pitchFamily="49" charset="0"/>
              </a:rPr>
              <a:t>result = </a:t>
            </a:r>
            <a:r>
              <a:rPr sz="2000" b="0" dirty="0" err="1">
                <a:solidFill>
                  <a:srgbClr val="00B0F0"/>
                </a:solidFill>
                <a:latin typeface="Consolas" panose="020B0609020204030204" pitchFamily="49" charset="0"/>
              </a:rPr>
              <a:t>add_numbers</a:t>
            </a:r>
            <a:r>
              <a:rPr sz="2000" b="0" dirty="0">
                <a:latin typeface="Consolas" panose="020B0609020204030204" pitchFamily="49" charset="0"/>
              </a:rPr>
              <a:t>(</a:t>
            </a:r>
            <a:r>
              <a:rPr lang="en-IN" sz="2000" b="0" dirty="0">
                <a:solidFill>
                  <a:srgbClr val="FFC000"/>
                </a:solidFill>
                <a:latin typeface="Consolas" panose="020B0609020204030204" pitchFamily="49" charset="0"/>
              </a:rPr>
              <a:t>4</a:t>
            </a:r>
            <a:r>
              <a:rPr sz="2000" b="0" dirty="0">
                <a:latin typeface="Consolas" panose="020B0609020204030204" pitchFamily="49" charset="0"/>
              </a:rPr>
              <a:t>, </a:t>
            </a:r>
            <a:r>
              <a:rPr lang="en-IN" sz="2000" b="0" dirty="0">
                <a:solidFill>
                  <a:srgbClr val="FFC000"/>
                </a:solidFill>
                <a:latin typeface="Consolas" panose="020B0609020204030204" pitchFamily="49" charset="0"/>
              </a:rPr>
              <a:t>2</a:t>
            </a:r>
            <a:r>
              <a:rPr sz="2000" b="0" dirty="0">
                <a:latin typeface="Consolas" panose="020B0609020204030204" pitchFamily="49" charset="0"/>
              </a:rPr>
              <a:t>)</a:t>
            </a:r>
            <a:br>
              <a:rPr dirty="0">
                <a:latin typeface="Consolas" panose="020B0609020204030204" pitchFamily="49" charset="0"/>
              </a:rPr>
            </a:br>
            <a:r>
              <a:rPr sz="2000" b="0" dirty="0">
                <a:solidFill>
                  <a:srgbClr val="7030A0"/>
                </a:solidFill>
                <a:latin typeface="Consolas" panose="020B0609020204030204" pitchFamily="49" charset="0"/>
              </a:rPr>
              <a:t>print</a:t>
            </a:r>
            <a:r>
              <a:rPr sz="2000" b="0" dirty="0">
                <a:latin typeface="Consolas" panose="020B0609020204030204" pitchFamily="49" charset="0"/>
              </a:rPr>
              <a:t>(result)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 dirty="0">
                <a:latin typeface="Times New Roman"/>
              </a:rPr>
              <a:t>Variable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sz="2000" b="0" dirty="0">
                <a:latin typeface="Times New Roman"/>
              </a:rPr>
              <a:t>Scope defines where a variable can be accessed.</a:t>
            </a:r>
            <a:endParaRPr lang="en-IN" sz="2000" b="0" dirty="0">
              <a:latin typeface="Times New Roman"/>
            </a:endParaRPr>
          </a:p>
          <a:p>
            <a:pPr marL="0" indent="0">
              <a:buNone/>
            </a:pPr>
            <a:endParaRPr sz="2000" b="0" dirty="0">
              <a:latin typeface="Times New Roman"/>
            </a:endParaRPr>
          </a:p>
          <a:p>
            <a:r>
              <a:rPr sz="2000" b="1" dirty="0">
                <a:latin typeface="Times New Roman"/>
              </a:rPr>
              <a:t>Local</a:t>
            </a:r>
            <a:r>
              <a:rPr sz="2000" b="0" dirty="0">
                <a:latin typeface="Times New Roman"/>
              </a:rPr>
              <a:t>: Variables existing only inside the function.</a:t>
            </a:r>
          </a:p>
          <a:p>
            <a:r>
              <a:rPr sz="2000" b="1" dirty="0">
                <a:latin typeface="Times New Roman"/>
              </a:rPr>
              <a:t>Global</a:t>
            </a:r>
            <a:r>
              <a:rPr sz="2000" b="0" dirty="0">
                <a:latin typeface="Times New Roman"/>
              </a:rPr>
              <a:t>: Variables existing throughout the entire file.</a:t>
            </a:r>
          </a:p>
          <a:p>
            <a:r>
              <a:rPr sz="2000" b="1" dirty="0">
                <a:latin typeface="Times New Roman"/>
              </a:rPr>
              <a:t>Goal</a:t>
            </a:r>
            <a:r>
              <a:rPr sz="2000" b="0" dirty="0">
                <a:latin typeface="Times New Roman"/>
              </a:rPr>
              <a:t>: Prevent unintended data modification.</a:t>
            </a:r>
          </a:p>
          <a:p>
            <a:pPr marL="0" indent="0">
              <a:buNone/>
            </a:pPr>
            <a:r>
              <a:rPr lang="en-IN" dirty="0"/>
              <a:t> </a:t>
            </a:r>
            <a:br>
              <a:rPr dirty="0"/>
            </a:br>
            <a:r>
              <a:rPr sz="2000" b="1" u="sng" dirty="0">
                <a:latin typeface="Times New Roman"/>
              </a:rPr>
              <a:t>Code</a:t>
            </a:r>
            <a:r>
              <a:rPr sz="2000" b="0" u="sng" dirty="0">
                <a:latin typeface="Times New Roman"/>
              </a:rPr>
              <a:t> </a:t>
            </a:r>
            <a:r>
              <a:rPr sz="2000" b="1" u="sng" dirty="0">
                <a:latin typeface="Times New Roman"/>
              </a:rPr>
              <a:t>Example</a:t>
            </a:r>
            <a:r>
              <a:rPr sz="2000" b="0" u="sng" dirty="0">
                <a:latin typeface="Times New Roman"/>
              </a:rPr>
              <a:t>:</a:t>
            </a:r>
          </a:p>
          <a:p>
            <a:pPr>
              <a:defRPr sz="1400">
                <a:latin typeface="Courier New"/>
              </a:defRPr>
            </a:pPr>
            <a:r>
              <a:rPr sz="2000" b="0" dirty="0">
                <a:latin typeface="Consolas" panose="020B0609020204030204" pitchFamily="49" charset="0"/>
              </a:rPr>
              <a:t>x = 10</a:t>
            </a:r>
            <a:br>
              <a:rPr dirty="0">
                <a:latin typeface="Consolas" panose="020B0609020204030204" pitchFamily="49" charset="0"/>
              </a:rPr>
            </a:br>
            <a:r>
              <a:rPr sz="2000" b="0" dirty="0">
                <a:solidFill>
                  <a:srgbClr val="7030A0"/>
                </a:solidFill>
                <a:latin typeface="Consolas" panose="020B0609020204030204" pitchFamily="49" charset="0"/>
              </a:rPr>
              <a:t>def</a:t>
            </a:r>
            <a:r>
              <a:rPr sz="2000" b="0" dirty="0">
                <a:latin typeface="Consolas" panose="020B0609020204030204" pitchFamily="49" charset="0"/>
              </a:rPr>
              <a:t> </a:t>
            </a:r>
            <a:r>
              <a:rPr sz="2000" b="0" dirty="0" err="1">
                <a:solidFill>
                  <a:srgbClr val="00B0F0"/>
                </a:solidFill>
                <a:latin typeface="Consolas" panose="020B0609020204030204" pitchFamily="49" charset="0"/>
              </a:rPr>
              <a:t>show_value</a:t>
            </a:r>
            <a:r>
              <a:rPr sz="2000" b="0" dirty="0">
                <a:latin typeface="Consolas" panose="020B0609020204030204" pitchFamily="49" charset="0"/>
              </a:rPr>
              <a:t>():</a:t>
            </a:r>
            <a:br>
              <a:rPr dirty="0">
                <a:latin typeface="Consolas" panose="020B0609020204030204" pitchFamily="49" charset="0"/>
              </a:rPr>
            </a:br>
            <a:r>
              <a:rPr sz="2000" b="0" dirty="0">
                <a:latin typeface="Consolas" panose="020B0609020204030204" pitchFamily="49" charset="0"/>
              </a:rPr>
              <a:t>    x = 5</a:t>
            </a:r>
            <a:br>
              <a:rPr dirty="0">
                <a:latin typeface="Consolas" panose="020B0609020204030204" pitchFamily="49" charset="0"/>
              </a:rPr>
            </a:br>
            <a:r>
              <a:rPr sz="2000" b="0" dirty="0">
                <a:latin typeface="Consolas" panose="020B0609020204030204" pitchFamily="49" charset="0"/>
              </a:rPr>
              <a:t>    </a:t>
            </a:r>
            <a:r>
              <a:rPr sz="2000" b="0" dirty="0">
                <a:solidFill>
                  <a:srgbClr val="7030A0"/>
                </a:solidFill>
                <a:latin typeface="Consolas" panose="020B0609020204030204" pitchFamily="49" charset="0"/>
              </a:rPr>
              <a:t>print</a:t>
            </a:r>
            <a:r>
              <a:rPr sz="2000" b="0" dirty="0">
                <a:latin typeface="Consolas" panose="020B0609020204030204" pitchFamily="49" charset="0"/>
              </a:rPr>
              <a:t>(x)</a:t>
            </a:r>
            <a:br>
              <a:rPr dirty="0">
                <a:latin typeface="Consolas" panose="020B0609020204030204" pitchFamily="49" charset="0"/>
              </a:rPr>
            </a:br>
            <a:br>
              <a:rPr dirty="0">
                <a:latin typeface="Consolas" panose="020B0609020204030204" pitchFamily="49" charset="0"/>
              </a:rPr>
            </a:br>
            <a:r>
              <a:rPr sz="2000" b="0" dirty="0" err="1">
                <a:solidFill>
                  <a:srgbClr val="00B0F0"/>
                </a:solidFill>
                <a:latin typeface="Consolas" panose="020B0609020204030204" pitchFamily="49" charset="0"/>
              </a:rPr>
              <a:t>show_value</a:t>
            </a:r>
            <a:r>
              <a:rPr sz="2000" b="0" dirty="0">
                <a:latin typeface="Consolas" panose="020B0609020204030204" pitchFamily="49" charset="0"/>
              </a:rPr>
              <a:t>() </a:t>
            </a:r>
            <a:r>
              <a:rPr sz="2000" b="0" dirty="0">
                <a:solidFill>
                  <a:srgbClr val="00B050"/>
                </a:solidFill>
                <a:latin typeface="Consolas" panose="020B0609020204030204" pitchFamily="49" charset="0"/>
              </a:rPr>
              <a:t># Prints 5</a:t>
            </a:r>
            <a:br>
              <a:rPr dirty="0">
                <a:solidFill>
                  <a:srgbClr val="00B050"/>
                </a:solidFill>
                <a:latin typeface="Consolas" panose="020B0609020204030204" pitchFamily="49" charset="0"/>
              </a:rPr>
            </a:br>
            <a:r>
              <a:rPr sz="2000" b="0" dirty="0">
                <a:solidFill>
                  <a:srgbClr val="7030A0"/>
                </a:solidFill>
                <a:latin typeface="Consolas" panose="020B0609020204030204" pitchFamily="49" charset="0"/>
              </a:rPr>
              <a:t>print</a:t>
            </a:r>
            <a:r>
              <a:rPr sz="2000" b="0" dirty="0">
                <a:latin typeface="Consolas" panose="020B0609020204030204" pitchFamily="49" charset="0"/>
              </a:rPr>
              <a:t>(x)      </a:t>
            </a:r>
            <a:r>
              <a:rPr sz="2000" b="0" dirty="0">
                <a:solidFill>
                  <a:srgbClr val="00B050"/>
                </a:solidFill>
                <a:latin typeface="Consolas" panose="020B0609020204030204" pitchFamily="49" charset="0"/>
              </a:rPr>
              <a:t># Prints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latin typeface="Times New Roman"/>
              </a:rPr>
              <a:t>Built-in 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sz="2000" b="0" dirty="0">
                <a:latin typeface="Times New Roman"/>
              </a:rPr>
              <a:t>Modules are files containing reusable code.</a:t>
            </a:r>
            <a:endParaRPr lang="en-IN" sz="2000" b="0" dirty="0">
              <a:latin typeface="Times New Roman"/>
            </a:endParaRPr>
          </a:p>
          <a:p>
            <a:endParaRPr sz="2000" b="0" dirty="0">
              <a:latin typeface="Times New Roman"/>
            </a:endParaRPr>
          </a:p>
          <a:p>
            <a:r>
              <a:rPr sz="2000" b="1" dirty="0">
                <a:latin typeface="Times New Roman"/>
              </a:rPr>
              <a:t>Standard</a:t>
            </a:r>
            <a:r>
              <a:rPr sz="2000" b="0" dirty="0">
                <a:latin typeface="Times New Roman"/>
              </a:rPr>
              <a:t> </a:t>
            </a:r>
            <a:r>
              <a:rPr sz="2000" b="1" dirty="0">
                <a:latin typeface="Times New Roman"/>
              </a:rPr>
              <a:t>Library:</a:t>
            </a:r>
            <a:r>
              <a:rPr sz="2000" b="0" dirty="0">
                <a:latin typeface="Times New Roman"/>
              </a:rPr>
              <a:t> Python provides 'math' and 'random'.</a:t>
            </a:r>
          </a:p>
          <a:p>
            <a:r>
              <a:rPr sz="2000" b="1" dirty="0">
                <a:latin typeface="Times New Roman"/>
              </a:rPr>
              <a:t>Benefit:</a:t>
            </a:r>
            <a:r>
              <a:rPr sz="2000" b="0" dirty="0">
                <a:latin typeface="Times New Roman"/>
              </a:rPr>
              <a:t> Avoid reinventing the wheel for common tasks.</a:t>
            </a:r>
          </a:p>
          <a:p>
            <a:pPr marL="0" indent="0">
              <a:buNone/>
            </a:pPr>
            <a:br>
              <a:rPr dirty="0"/>
            </a:br>
            <a:r>
              <a:rPr sz="2000" b="1" u="sng" dirty="0">
                <a:latin typeface="Times New Roman"/>
              </a:rPr>
              <a:t>Code Example:</a:t>
            </a:r>
          </a:p>
          <a:p>
            <a:pPr>
              <a:defRPr sz="1400">
                <a:latin typeface="Courier New"/>
              </a:defRPr>
            </a:pPr>
            <a:r>
              <a:rPr sz="2000" b="0" dirty="0">
                <a:solidFill>
                  <a:srgbClr val="7030A0"/>
                </a:solidFill>
                <a:latin typeface="Consolas" panose="020B0609020204030204" pitchFamily="49" charset="0"/>
              </a:rPr>
              <a:t>import</a:t>
            </a:r>
            <a:r>
              <a:rPr sz="2000" b="0" dirty="0">
                <a:latin typeface="Consolas" panose="020B0609020204030204" pitchFamily="49" charset="0"/>
              </a:rPr>
              <a:t> math</a:t>
            </a:r>
            <a:br>
              <a:rPr dirty="0">
                <a:latin typeface="Consolas" panose="020B0609020204030204" pitchFamily="49" charset="0"/>
              </a:rPr>
            </a:br>
            <a:r>
              <a:rPr sz="2000" b="0" dirty="0">
                <a:solidFill>
                  <a:srgbClr val="7030A0"/>
                </a:solidFill>
                <a:latin typeface="Consolas" panose="020B0609020204030204" pitchFamily="49" charset="0"/>
              </a:rPr>
              <a:t>import</a:t>
            </a:r>
            <a:r>
              <a:rPr sz="2000" b="0" dirty="0">
                <a:latin typeface="Consolas" panose="020B0609020204030204" pitchFamily="49" charset="0"/>
              </a:rPr>
              <a:t> random</a:t>
            </a:r>
            <a:br>
              <a:rPr dirty="0">
                <a:latin typeface="Consolas" panose="020B0609020204030204" pitchFamily="49" charset="0"/>
              </a:rPr>
            </a:br>
            <a:br>
              <a:rPr dirty="0">
                <a:latin typeface="Consolas" panose="020B0609020204030204" pitchFamily="49" charset="0"/>
              </a:rPr>
            </a:br>
            <a:r>
              <a:rPr sz="2000" b="0" dirty="0">
                <a:solidFill>
                  <a:srgbClr val="7030A0"/>
                </a:solidFill>
                <a:latin typeface="Consolas" panose="020B0609020204030204" pitchFamily="49" charset="0"/>
              </a:rPr>
              <a:t>print</a:t>
            </a:r>
            <a:r>
              <a:rPr sz="2000" b="0" dirty="0">
                <a:latin typeface="Consolas" panose="020B0609020204030204" pitchFamily="49" charset="0"/>
              </a:rPr>
              <a:t>(</a:t>
            </a:r>
            <a:r>
              <a:rPr sz="2000" b="0" dirty="0" err="1">
                <a:latin typeface="Consolas" panose="020B0609020204030204" pitchFamily="49" charset="0"/>
              </a:rPr>
              <a:t>math.</a:t>
            </a:r>
            <a:r>
              <a:rPr sz="2000" b="0" dirty="0" err="1">
                <a:solidFill>
                  <a:srgbClr val="7030A0"/>
                </a:solidFill>
                <a:latin typeface="Consolas" panose="020B0609020204030204" pitchFamily="49" charset="0"/>
              </a:rPr>
              <a:t>sqrt</a:t>
            </a:r>
            <a:r>
              <a:rPr sz="2000" b="0" dirty="0">
                <a:latin typeface="Consolas" panose="020B0609020204030204" pitchFamily="49" charset="0"/>
              </a:rPr>
              <a:t>(16))</a:t>
            </a:r>
            <a:br>
              <a:rPr dirty="0">
                <a:latin typeface="Consolas" panose="020B0609020204030204" pitchFamily="49" charset="0"/>
              </a:rPr>
            </a:br>
            <a:r>
              <a:rPr sz="2000" b="0" dirty="0">
                <a:solidFill>
                  <a:srgbClr val="7030A0"/>
                </a:solidFill>
                <a:latin typeface="Consolas" panose="020B0609020204030204" pitchFamily="49" charset="0"/>
              </a:rPr>
              <a:t>print</a:t>
            </a:r>
            <a:r>
              <a:rPr sz="2000" b="0" dirty="0">
                <a:latin typeface="Consolas" panose="020B0609020204030204" pitchFamily="49" charset="0"/>
              </a:rPr>
              <a:t>(</a:t>
            </a:r>
            <a:r>
              <a:rPr sz="2000" b="0" dirty="0" err="1">
                <a:latin typeface="Consolas" panose="020B0609020204030204" pitchFamily="49" charset="0"/>
              </a:rPr>
              <a:t>random.</a:t>
            </a:r>
            <a:r>
              <a:rPr sz="2000" b="0" dirty="0" err="1">
                <a:solidFill>
                  <a:srgbClr val="7030A0"/>
                </a:solidFill>
                <a:latin typeface="Consolas" panose="020B0609020204030204" pitchFamily="49" charset="0"/>
              </a:rPr>
              <a:t>randint</a:t>
            </a:r>
            <a:r>
              <a:rPr sz="2000" b="0" dirty="0">
                <a:latin typeface="Consolas" panose="020B0609020204030204" pitchFamily="49" charset="0"/>
              </a:rPr>
              <a:t>(1, 10))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latin typeface="Times New Roman"/>
              </a:rPr>
              <a:t>Custom 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000" dirty="0">
                <a:latin typeface="Times New Roman"/>
              </a:rPr>
              <a:t>O</a:t>
            </a:r>
            <a:r>
              <a:rPr sz="2000" b="0" dirty="0" err="1">
                <a:latin typeface="Times New Roman"/>
              </a:rPr>
              <a:t>rganize</a:t>
            </a:r>
            <a:r>
              <a:rPr sz="2000" b="0" dirty="0">
                <a:latin typeface="Times New Roman"/>
              </a:rPr>
              <a:t> your own code across multiple files.</a:t>
            </a:r>
          </a:p>
          <a:p>
            <a:r>
              <a:rPr sz="2000" b="0" dirty="0">
                <a:latin typeface="Times New Roman"/>
              </a:rPr>
              <a:t>Separate concerns and improve project readability.</a:t>
            </a:r>
          </a:p>
          <a:p>
            <a:r>
              <a:rPr sz="2000" b="0" dirty="0">
                <a:latin typeface="Times New Roman"/>
              </a:rPr>
              <a:t>Enable code reuse across different projects.</a:t>
            </a:r>
          </a:p>
          <a:p>
            <a:pPr marL="0" indent="0">
              <a:buNone/>
            </a:pPr>
            <a:br>
              <a:rPr dirty="0"/>
            </a:br>
            <a:r>
              <a:rPr sz="2000" b="1" u="sng" dirty="0">
                <a:latin typeface="Times New Roman"/>
              </a:rPr>
              <a:t>Code</a:t>
            </a:r>
            <a:r>
              <a:rPr sz="2000" b="0" u="sng" dirty="0">
                <a:latin typeface="Times New Roman"/>
              </a:rPr>
              <a:t> </a:t>
            </a:r>
            <a:r>
              <a:rPr sz="2000" b="1" u="sng" dirty="0">
                <a:latin typeface="Times New Roman"/>
              </a:rPr>
              <a:t>Example</a:t>
            </a:r>
            <a:r>
              <a:rPr sz="2000" b="0" u="sng" dirty="0">
                <a:latin typeface="Times New Roman"/>
              </a:rPr>
              <a:t>:</a:t>
            </a:r>
          </a:p>
          <a:p>
            <a:pPr>
              <a:defRPr sz="1400">
                <a:latin typeface="Courier New"/>
              </a:defRPr>
            </a:pPr>
            <a:r>
              <a:rPr sz="2000" b="0" dirty="0">
                <a:solidFill>
                  <a:srgbClr val="00B050"/>
                </a:solidFill>
                <a:latin typeface="Consolas" panose="020B0609020204030204" pitchFamily="49" charset="0"/>
              </a:rPr>
              <a:t># utils.py</a:t>
            </a:r>
            <a:br>
              <a:rPr dirty="0">
                <a:latin typeface="Consolas" panose="020B0609020204030204" pitchFamily="49" charset="0"/>
              </a:rPr>
            </a:br>
            <a:r>
              <a:rPr sz="2000" b="0" dirty="0">
                <a:solidFill>
                  <a:srgbClr val="7030A0"/>
                </a:solidFill>
                <a:latin typeface="Consolas" panose="020B0609020204030204" pitchFamily="49" charset="0"/>
              </a:rPr>
              <a:t>def</a:t>
            </a:r>
            <a:r>
              <a:rPr sz="2000" b="0" dirty="0">
                <a:latin typeface="Consolas" panose="020B0609020204030204" pitchFamily="49" charset="0"/>
              </a:rPr>
              <a:t> </a:t>
            </a:r>
            <a:r>
              <a:rPr sz="2000" b="0" dirty="0">
                <a:solidFill>
                  <a:srgbClr val="00B0F0"/>
                </a:solidFill>
                <a:latin typeface="Consolas" panose="020B0609020204030204" pitchFamily="49" charset="0"/>
              </a:rPr>
              <a:t>multiply</a:t>
            </a:r>
            <a:r>
              <a:rPr sz="2000" b="0" dirty="0">
                <a:latin typeface="Consolas" panose="020B0609020204030204" pitchFamily="49" charset="0"/>
              </a:rPr>
              <a:t>(a, b): </a:t>
            </a:r>
            <a:r>
              <a:rPr sz="2000" b="0" dirty="0">
                <a:solidFill>
                  <a:srgbClr val="7030A0"/>
                </a:solidFill>
                <a:latin typeface="Consolas" panose="020B0609020204030204" pitchFamily="49" charset="0"/>
              </a:rPr>
              <a:t>return</a:t>
            </a:r>
            <a:r>
              <a:rPr sz="2000" b="0" dirty="0">
                <a:latin typeface="Consolas" panose="020B0609020204030204" pitchFamily="49" charset="0"/>
              </a:rPr>
              <a:t> a * b</a:t>
            </a:r>
            <a:br>
              <a:rPr dirty="0">
                <a:latin typeface="Consolas" panose="020B0609020204030204" pitchFamily="49" charset="0"/>
              </a:rPr>
            </a:br>
            <a:br>
              <a:rPr dirty="0">
                <a:latin typeface="Consolas" panose="020B0609020204030204" pitchFamily="49" charset="0"/>
              </a:rPr>
            </a:br>
            <a:r>
              <a:rPr sz="2000" b="0" dirty="0">
                <a:solidFill>
                  <a:srgbClr val="00B050"/>
                </a:solidFill>
                <a:latin typeface="Consolas" panose="020B0609020204030204" pitchFamily="49" charset="0"/>
              </a:rPr>
              <a:t># main.py</a:t>
            </a:r>
            <a:br>
              <a:rPr dirty="0">
                <a:solidFill>
                  <a:srgbClr val="00B050"/>
                </a:solidFill>
                <a:latin typeface="Consolas" panose="020B0609020204030204" pitchFamily="49" charset="0"/>
              </a:rPr>
            </a:br>
            <a:r>
              <a:rPr sz="2000" b="0" dirty="0">
                <a:solidFill>
                  <a:srgbClr val="7030A0"/>
                </a:solidFill>
                <a:latin typeface="Consolas" panose="020B0609020204030204" pitchFamily="49" charset="0"/>
              </a:rPr>
              <a:t>import</a:t>
            </a:r>
            <a:r>
              <a:rPr sz="2000" b="0" dirty="0">
                <a:latin typeface="Consolas" panose="020B0609020204030204" pitchFamily="49" charset="0"/>
              </a:rPr>
              <a:t> utils</a:t>
            </a:r>
            <a:br>
              <a:rPr dirty="0">
                <a:latin typeface="Consolas" panose="020B0609020204030204" pitchFamily="49" charset="0"/>
              </a:rPr>
            </a:br>
            <a:r>
              <a:rPr sz="2000" b="0" dirty="0">
                <a:solidFill>
                  <a:srgbClr val="7030A0"/>
                </a:solidFill>
                <a:latin typeface="Consolas" panose="020B0609020204030204" pitchFamily="49" charset="0"/>
              </a:rPr>
              <a:t>print</a:t>
            </a:r>
            <a:r>
              <a:rPr sz="2000" b="0" dirty="0">
                <a:latin typeface="Consolas" panose="020B0609020204030204" pitchFamily="49" charset="0"/>
              </a:rPr>
              <a:t>(</a:t>
            </a:r>
            <a:r>
              <a:rPr sz="2000" b="0" dirty="0" err="1">
                <a:latin typeface="Consolas" panose="020B0609020204030204" pitchFamily="49" charset="0"/>
              </a:rPr>
              <a:t>utils.multiply</a:t>
            </a:r>
            <a:r>
              <a:rPr sz="2000" b="0" dirty="0">
                <a:latin typeface="Consolas" panose="020B0609020204030204" pitchFamily="49" charset="0"/>
              </a:rPr>
              <a:t>(</a:t>
            </a:r>
            <a:r>
              <a:rPr sz="2000" b="0" dirty="0">
                <a:solidFill>
                  <a:srgbClr val="FFC000"/>
                </a:solidFill>
                <a:latin typeface="Consolas" panose="020B0609020204030204" pitchFamily="49" charset="0"/>
              </a:rPr>
              <a:t>3</a:t>
            </a:r>
            <a:r>
              <a:rPr sz="2000" b="0" dirty="0">
                <a:latin typeface="Consolas" panose="020B0609020204030204" pitchFamily="49" charset="0"/>
              </a:rPr>
              <a:t>, </a:t>
            </a:r>
            <a:r>
              <a:rPr sz="2000" b="0" dirty="0">
                <a:solidFill>
                  <a:srgbClr val="FFC000"/>
                </a:solidFill>
                <a:latin typeface="Consolas" panose="020B0609020204030204" pitchFamily="49" charset="0"/>
              </a:rPr>
              <a:t>4</a:t>
            </a:r>
            <a:r>
              <a:rPr sz="2000" b="0" dirty="0">
                <a:latin typeface="Consolas" panose="020B0609020204030204" pitchFamily="49" charset="0"/>
              </a:rPr>
              <a:t>))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 dirty="0">
                <a:latin typeface="Times New Roman"/>
              </a:rPr>
              <a:t>Function Naming 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600200"/>
            <a:ext cx="8362335" cy="4525963"/>
          </a:xfrm>
        </p:spPr>
        <p:txBody>
          <a:bodyPr/>
          <a:lstStyle/>
          <a:p>
            <a:r>
              <a:rPr sz="2000" b="0" dirty="0">
                <a:latin typeface="Times New Roman"/>
              </a:rPr>
              <a:t>Must start with a letter or an underscore (_).</a:t>
            </a:r>
          </a:p>
          <a:p>
            <a:r>
              <a:rPr sz="2000" b="0" dirty="0">
                <a:latin typeface="Times New Roman"/>
              </a:rPr>
              <a:t>Cannot start with a number.</a:t>
            </a:r>
          </a:p>
          <a:p>
            <a:r>
              <a:rPr sz="2000" b="0" dirty="0">
                <a:latin typeface="Times New Roman"/>
              </a:rPr>
              <a:t>Can only contain alphanumeric characters and underscores (A-z, 0-9, and _).</a:t>
            </a:r>
          </a:p>
          <a:p>
            <a:r>
              <a:rPr sz="2000" b="1" dirty="0">
                <a:latin typeface="Times New Roman"/>
              </a:rPr>
              <a:t>Case-sensitive: </a:t>
            </a:r>
            <a:r>
              <a:rPr sz="2000" b="0" dirty="0">
                <a:latin typeface="Times New Roman"/>
              </a:rPr>
              <a:t>'</a:t>
            </a:r>
            <a:r>
              <a:rPr sz="2000" b="0" dirty="0" err="1">
                <a:latin typeface="Times New Roman"/>
              </a:rPr>
              <a:t>myFunction</a:t>
            </a:r>
            <a:r>
              <a:rPr sz="2000" b="0" dirty="0">
                <a:latin typeface="Times New Roman"/>
              </a:rPr>
              <a:t>' and '</a:t>
            </a:r>
            <a:r>
              <a:rPr sz="2000" b="0" dirty="0" err="1">
                <a:latin typeface="Times New Roman"/>
              </a:rPr>
              <a:t>myfunction</a:t>
            </a:r>
            <a:r>
              <a:rPr sz="2000" b="0" dirty="0">
                <a:latin typeface="Times New Roman"/>
              </a:rPr>
              <a:t>' are different.</a:t>
            </a:r>
          </a:p>
          <a:p>
            <a:r>
              <a:rPr sz="2000" b="1" dirty="0">
                <a:latin typeface="Times New Roman"/>
              </a:rPr>
              <a:t>Best Practice: </a:t>
            </a:r>
            <a:r>
              <a:rPr sz="2000" b="0" dirty="0">
                <a:latin typeface="Times New Roman"/>
              </a:rPr>
              <a:t>Use '</a:t>
            </a:r>
            <a:r>
              <a:rPr sz="2000" b="0" dirty="0" err="1">
                <a:latin typeface="Times New Roman"/>
              </a:rPr>
              <a:t>snake_case</a:t>
            </a:r>
            <a:r>
              <a:rPr sz="2000" b="0" dirty="0">
                <a:latin typeface="Times New Roman"/>
              </a:rPr>
              <a:t>' (all lowercase with underscores).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latin typeface="Times New Roman"/>
              </a:rPr>
              <a:t>Essential Structural 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 b="1" dirty="0">
                <a:latin typeface="Times New Roman"/>
              </a:rPr>
              <a:t>Keyword: </a:t>
            </a:r>
            <a:r>
              <a:rPr sz="2000" b="0" dirty="0">
                <a:latin typeface="Times New Roman"/>
              </a:rPr>
              <a:t>Use 'def' to announce you are starting a function.</a:t>
            </a:r>
          </a:p>
          <a:p>
            <a:r>
              <a:rPr sz="2000" b="1" dirty="0">
                <a:latin typeface="Times New Roman"/>
              </a:rPr>
              <a:t>Colon (:): </a:t>
            </a:r>
            <a:r>
              <a:rPr sz="2000" b="0" dirty="0">
                <a:latin typeface="Times New Roman"/>
              </a:rPr>
              <a:t>Every function definition must end with a colon.</a:t>
            </a:r>
          </a:p>
          <a:p>
            <a:r>
              <a:rPr sz="2000" b="1" dirty="0">
                <a:latin typeface="Times New Roman"/>
              </a:rPr>
              <a:t>Indentation:</a:t>
            </a:r>
            <a:r>
              <a:rPr sz="2000" b="0" dirty="0">
                <a:latin typeface="Times New Roman"/>
              </a:rPr>
              <a:t> The code block inside the function </a:t>
            </a:r>
            <a:r>
              <a:rPr sz="2000" b="0" dirty="0">
                <a:solidFill>
                  <a:srgbClr val="FF0000"/>
                </a:solidFill>
                <a:latin typeface="Times New Roman"/>
              </a:rPr>
              <a:t>MUST</a:t>
            </a:r>
            <a:r>
              <a:rPr sz="2000" b="0" dirty="0">
                <a:latin typeface="Times New Roman"/>
              </a:rPr>
              <a:t> be indented (usually 4 spaces).</a:t>
            </a:r>
          </a:p>
          <a:p>
            <a:r>
              <a:rPr sz="2000" b="1" dirty="0">
                <a:latin typeface="Times New Roman"/>
              </a:rPr>
              <a:t>Parentheses:</a:t>
            </a:r>
            <a:r>
              <a:rPr sz="2000" b="0" dirty="0">
                <a:latin typeface="Times New Roman"/>
              </a:rPr>
              <a:t> Must include () even if there are no arguments.</a:t>
            </a:r>
          </a:p>
          <a:p>
            <a:r>
              <a:rPr sz="2000" b="1" dirty="0">
                <a:latin typeface="Times New Roman"/>
              </a:rPr>
              <a:t>Documentation:</a:t>
            </a:r>
            <a:r>
              <a:rPr sz="2000" b="0" dirty="0">
                <a:latin typeface="Times New Roman"/>
              </a:rPr>
              <a:t> Use triple quotes (docstrings) to explain what the function does.</a:t>
            </a:r>
          </a:p>
          <a:p>
            <a:pPr marL="0" indent="0">
              <a:buNone/>
            </a:pPr>
            <a:br>
              <a:rPr dirty="0"/>
            </a:br>
            <a:r>
              <a:rPr sz="2000" b="1" u="sng" dirty="0">
                <a:latin typeface="Times New Roman"/>
              </a:rPr>
              <a:t>Code</a:t>
            </a:r>
            <a:r>
              <a:rPr sz="2000" b="0" u="sng" dirty="0">
                <a:latin typeface="Times New Roman"/>
              </a:rPr>
              <a:t> </a:t>
            </a:r>
            <a:r>
              <a:rPr sz="2000" b="1" u="sng" dirty="0">
                <a:latin typeface="Times New Roman"/>
              </a:rPr>
              <a:t>Example</a:t>
            </a:r>
            <a:r>
              <a:rPr sz="2000" b="0" u="sng" dirty="0">
                <a:latin typeface="Times New Roman"/>
              </a:rPr>
              <a:t>:</a:t>
            </a:r>
          </a:p>
          <a:p>
            <a:pPr>
              <a:defRPr sz="1400">
                <a:latin typeface="Courier New"/>
              </a:defRPr>
            </a:pPr>
            <a:r>
              <a:rPr sz="2000" b="0" dirty="0">
                <a:solidFill>
                  <a:srgbClr val="7030A0"/>
                </a:solidFill>
                <a:latin typeface="Consolas" panose="020B0609020204030204" pitchFamily="49" charset="0"/>
              </a:rPr>
              <a:t>def</a:t>
            </a:r>
            <a:r>
              <a:rPr sz="2000" b="0" dirty="0">
                <a:latin typeface="Consolas" panose="020B0609020204030204" pitchFamily="49" charset="0"/>
              </a:rPr>
              <a:t> </a:t>
            </a:r>
            <a:r>
              <a:rPr sz="2000" b="0" dirty="0" err="1">
                <a:solidFill>
                  <a:srgbClr val="00B0F0"/>
                </a:solidFill>
                <a:latin typeface="Consolas" panose="020B0609020204030204" pitchFamily="49" charset="0"/>
              </a:rPr>
              <a:t>calculate_area</a:t>
            </a:r>
            <a:r>
              <a:rPr sz="2000" b="0" dirty="0">
                <a:latin typeface="Consolas" panose="020B0609020204030204" pitchFamily="49" charset="0"/>
              </a:rPr>
              <a:t>(radius):</a:t>
            </a:r>
            <a:br>
              <a:rPr dirty="0">
                <a:latin typeface="Consolas" panose="020B0609020204030204" pitchFamily="49" charset="0"/>
              </a:rPr>
            </a:br>
            <a:r>
              <a:rPr sz="2000" b="0" dirty="0">
                <a:latin typeface="Consolas" panose="020B0609020204030204" pitchFamily="49" charset="0"/>
              </a:rPr>
              <a:t>    </a:t>
            </a:r>
            <a:r>
              <a:rPr sz="2000" b="0" dirty="0">
                <a:solidFill>
                  <a:srgbClr val="00B050"/>
                </a:solidFill>
                <a:latin typeface="Consolas" panose="020B0609020204030204" pitchFamily="49" charset="0"/>
              </a:rPr>
              <a:t>"""Calculates circle area"""</a:t>
            </a:r>
            <a:br>
              <a:rPr dirty="0">
                <a:latin typeface="Consolas" panose="020B0609020204030204" pitchFamily="49" charset="0"/>
              </a:rPr>
            </a:br>
            <a:r>
              <a:rPr sz="2000" b="0" dirty="0">
                <a:latin typeface="Consolas" panose="020B0609020204030204" pitchFamily="49" charset="0"/>
              </a:rPr>
              <a:t>    </a:t>
            </a:r>
            <a:r>
              <a:rPr sz="2000" b="0" dirty="0">
                <a:solidFill>
                  <a:srgbClr val="7030A0"/>
                </a:solidFill>
                <a:latin typeface="Consolas" panose="020B0609020204030204" pitchFamily="49" charset="0"/>
              </a:rPr>
              <a:t>return</a:t>
            </a:r>
            <a:r>
              <a:rPr sz="2000" b="0" dirty="0">
                <a:latin typeface="Consolas" panose="020B0609020204030204" pitchFamily="49" charset="0"/>
              </a:rPr>
              <a:t> 3.14 * radius**2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516</Words>
  <Application>Microsoft Office PowerPoint</Application>
  <PresentationFormat>On-screen Show (4:3)</PresentationFormat>
  <Paragraphs>55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Consolas</vt:lpstr>
      <vt:lpstr>Times New Roman</vt:lpstr>
      <vt:lpstr>Office Theme</vt:lpstr>
      <vt:lpstr>Python Functions and Modules</vt:lpstr>
      <vt:lpstr>Introduction to Functions</vt:lpstr>
      <vt:lpstr>Arguments and Return Values</vt:lpstr>
      <vt:lpstr>Variable Scope</vt:lpstr>
      <vt:lpstr>Built-in Modules</vt:lpstr>
      <vt:lpstr>Custom Modules</vt:lpstr>
      <vt:lpstr>Function Naming Rules</vt:lpstr>
      <vt:lpstr>Essential Structural Rules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Adithya Bhat</cp:lastModifiedBy>
  <cp:revision>13</cp:revision>
  <dcterms:created xsi:type="dcterms:W3CDTF">2013-01-27T09:14:16Z</dcterms:created>
  <dcterms:modified xsi:type="dcterms:W3CDTF">2026-02-06T04:57:18Z</dcterms:modified>
  <cp:category/>
</cp:coreProperties>
</file>